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0669e6eae8481a" /><Relationship Type="http://schemas.openxmlformats.org/officeDocument/2006/relationships/extended-properties" Target="/docProps/app.xml" Id="R37ad9189bff140c9" /><Relationship Type="http://schemas.openxmlformats.org/officeDocument/2006/relationships/officeDocument" Target="/ppt/presentation.xml" Id="R1f8f4313a0f144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d66f77b4934edf"/>
  </p:sldMasterIdLst>
  <p:notesMasterIdLst>
    <p:notesMasterId xmlns:r="http://schemas.openxmlformats.org/officeDocument/2006/relationships" r:id="Rcaa92a30b1bd4b8d"/>
  </p:notesMasterIdLst>
  <p:sldIdLst>
    <p:sldId xmlns:r="http://schemas.openxmlformats.org/officeDocument/2006/relationships" id="256" r:id="Re90f1dde259c445c"/>
  </p:sldIdLst>
  <p:sldSz cx="13716000" cy="2057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b41fa2774e469b" /><Relationship Type="http://schemas.openxmlformats.org/officeDocument/2006/relationships/slideMaster" Target="/ppt/slideMasters/slideMaster1.xml" Id="R50d66f77b4934edf" /><Relationship Type="http://schemas.openxmlformats.org/officeDocument/2006/relationships/notesMaster" Target="/ppt/notesMasters/notesMaster1.xml" Id="Rcaa92a30b1bd4b8d" /><Relationship Type="http://schemas.openxmlformats.org/officeDocument/2006/relationships/presProps" Target="/ppt/presProps.xml" Id="Rc8bff4628d8b4ae6" /><Relationship Type="http://schemas.openxmlformats.org/officeDocument/2006/relationships/tableStyles" Target="/ppt/tableStyles.xml" Id="R4027a8eac4074d76" /><Relationship Type="http://schemas.openxmlformats.org/officeDocument/2006/relationships/slide" Target="/ppt/slides/slide1.xml" Id="Re90f1dde259c44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fe20c65b5c4d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ce701d3d524676" /><Relationship Type="http://schemas.openxmlformats.org/officeDocument/2006/relationships/notesMaster" Target="/ppt/notesMasters/notesMaster1.xml" Id="Rb94416f484fb45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Inqtrix brand portfolio. All pictured logo applications use one extracted matte raster contour and its deterministic flat/inverse derivatives. Copy: Self-hosted AI research workspace. From questions to cited reports. Search the web and your documents. Develop cited reports, then keep working in chat and the editor. Product support: project README.md, What is Inqtrix and Workspace features; docs/architecture/websearch/loop.md. Related repository positioning consulted: https://github.com/assafelovic/gpt-researcher ; https://github.com/langchain-ai/open_deep_research ; https://github.com/ItzCrazyKns/Vane ; https://github.com/bytedance/deer-flow . Inspiration: https://linear.app/brand ; https://www.pentagram.com/work/intrinsic . Ariadne background: https://www.britishmuseum.org/collection/object/P_1909-0512-1-2 . Color meanings are project-specific design choices. The material artwork originated in built-in ImageGen; typography, compositing, dimensions, transparency and variants were produced deterministically. No security, compliance, unbiasedness or guaranteed accuracy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97d73b613044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b82df496564e1b" /><Relationship Type="http://schemas.openxmlformats.org/officeDocument/2006/relationships/slideLayout" Target="/ppt/slideLayouts/slideLayout1.xml" Id="R8443aa4ebd8a41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43aa4ebd8a41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ff83a84ef4500" /><Relationship Type="http://schemas.openxmlformats.org/officeDocument/2006/relationships/image" Target="/ppt/media/image.png" Id="R21990f6fd6d944b4" /><Relationship Type="http://schemas.openxmlformats.org/officeDocument/2006/relationships/image" Target="/ppt/media/image2.png" Id="R123af065fda54c7c" /><Relationship Type="http://schemas.openxmlformats.org/officeDocument/2006/relationships/image" Target="/ppt/media/image3.png" Id="Rd106b32d43b54c4d" /><Relationship Type="http://schemas.openxmlformats.org/officeDocument/2006/relationships/image" Target="/ppt/media/image4.png" Id="Rbb7217519bbb4f39" /><Relationship Type="http://schemas.openxmlformats.org/officeDocument/2006/relationships/image" Target="/ppt/media/image5.png" Id="Ra260a64cbfef4922" /><Relationship Type="http://schemas.openxmlformats.org/officeDocument/2006/relationships/image" Target="/ppt/media/image6.png" Id="R0ab85db192084076" /><Relationship Type="http://schemas.openxmlformats.org/officeDocument/2006/relationships/notesSlide" Target="/ppt/notesSlides/notesSlide1.xml" Id="R81e5b91994bf4b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label">
            <a:extLst xmlns:a="http://schemas.openxmlformats.org/drawingml/2006/main">
              <a:ext uri="{FF2B5EF4-FFF2-40B4-BE49-F238E27FC236}">
                <a16:creationId xmlns:a16="http://schemas.microsoft.com/office/drawing/2014/main" id="{E66A5980-A3CE-45B4-B068-90F80DD4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74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57482"/>
                </a:solidFill>
                <a:latin typeface="Helvetica Neue"/>
                <a:ea typeface="Helvetica Neue"/>
                <a:cs typeface="Helvetica Neue"/>
              </a:rPr>
              <a:t>INQTRIX / BRAND PORTFOLIO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1440D9-72DF-45D8-8B48-BC77DE3C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3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32536"/>
                </a:solidFill>
                <a:latin typeface="Helvetica Neue"/>
                <a:ea typeface="Helvetica Neue"/>
                <a:cs typeface="Helvetica Neue"/>
              </a:rPr>
              <a:t>A workspace for research</a:t>
            </a:r>
          </a:p>
        </p:txBody>
      </p:sp>
      <p:sp>
        <p:nvSpPr>
          <p:cNvPr id="3" name="edition">
            <a:extLst xmlns:a="http://schemas.openxmlformats.org/drawingml/2006/main">
              <a:ext uri="{FF2B5EF4-FFF2-40B4-BE49-F238E27FC236}">
                <a16:creationId xmlns:a16="http://schemas.microsoft.com/office/drawing/2014/main" id="{7A172D04-0FD5-4CCE-B596-ACA4B3C4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95350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rPr>
              <a:t>Ink. Paper. A petrol thread.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90f6fd6d944b4"/>
          <a:srcRect xmlns:a="http://schemas.openxmlformats.org/drawingml/2006/main" l="0" t="4365" r="0" b="43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33550"/>
            <a:ext cx="12801600" cy="6572250"/>
          </a:xfrm>
          <a:prstGeom xmlns:a="http://schemas.openxmlformats.org/drawingml/2006/main" prst="rect">
            <a:avLst/>
          </a:prstGeom>
        </p:spPr>
      </p:pic>
      <p:sp>
        <p:nvSpPr>
          <p:cNvPr id="5" name="hero label">
            <a:extLst xmlns:a="http://schemas.openxmlformats.org/drawingml/2006/main">
              <a:ext uri="{FF2B5EF4-FFF2-40B4-BE49-F238E27FC236}">
                <a16:creationId xmlns:a16="http://schemas.microsoft.com/office/drawing/2014/main" id="{5AB6BC20-F838-4505-AA58-C2D23132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4296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4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57482"/>
                </a:solidFill>
                <a:latin typeface="Helvetica Neue"/>
                <a:ea typeface="Helvetica Neue"/>
                <a:cs typeface="Helvetica Neue"/>
              </a:rPr>
              <a:t>WEBSITE HERO</a:t>
            </a:r>
          </a:p>
        </p:txBody>
      </p:sp>
      <p:sp>
        <p:nvSpPr>
          <p:cNvPr id="6" name="positioning">
            <a:extLst xmlns:a="http://schemas.openxmlformats.org/drawingml/2006/main">
              <a:ext uri="{FF2B5EF4-FFF2-40B4-BE49-F238E27FC236}">
                <a16:creationId xmlns:a16="http://schemas.microsoft.com/office/drawing/2014/main" id="{537580EF-2A50-40BF-A0FD-36A68CD4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896350"/>
            <a:ext cx="1238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32536"/>
                </a:solidFill>
                <a:latin typeface="Helvetica Neue"/>
                <a:ea typeface="Helvetica Neue"/>
                <a:cs typeface="Helvetica Neue"/>
              </a:rPr>
              <a:t>Research, with room to keep working</a:t>
            </a:r>
          </a:p>
        </p:txBody>
      </p:sp>
      <p:sp>
        <p:nvSpPr>
          <p:cNvPr id="7" name="scope">
            <a:extLst xmlns:a="http://schemas.openxmlformats.org/drawingml/2006/main">
              <a:ext uri="{FF2B5EF4-FFF2-40B4-BE49-F238E27FC236}">
                <a16:creationId xmlns:a16="http://schemas.microsoft.com/office/drawing/2014/main" id="{BCAAC1E0-5D3C-4C82-8826-7012DC4C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448800"/>
            <a:ext cx="1280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rPr>
              <a:t>Web research and document knowledge, connected to reports, chat and writing.</a:t>
            </a:r>
          </a:p>
        </p:txBody>
      </p:sp>
      <p:sp>
        <p:nvSpPr>
          <p:cNvPr id="8" name="light mark stage">
            <a:extLst xmlns:a="http://schemas.openxmlformats.org/drawingml/2006/main">
              <a:ext uri="{FF2B5EF4-FFF2-40B4-BE49-F238E27FC236}">
                <a16:creationId xmlns:a16="http://schemas.microsoft.com/office/drawing/2014/main" id="{6D8AC0A2-B7BF-4A09-8CE5-4E686249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91750"/>
            <a:ext cx="40386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af065fda54c7c"/>
          <a:stretch xmlns:a="http://schemas.openxmlformats.org/drawingml/2006/main"/>
        </p:blipFill>
        <p:spPr>
          <a:xfrm xmlns:a="http://schemas.openxmlformats.org/drawingml/2006/main">
            <a:off x="1057275" y="10191750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10" name="dark mark stage">
            <a:extLst xmlns:a="http://schemas.openxmlformats.org/drawingml/2006/main">
              <a:ext uri="{FF2B5EF4-FFF2-40B4-BE49-F238E27FC236}">
                <a16:creationId xmlns:a16="http://schemas.microsoft.com/office/drawing/2014/main" id="{46C34658-68FD-49A5-A488-1828DAB5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0191750"/>
            <a:ext cx="40386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36"/>
          </a:solidFill>
          <a:ln xmlns:a="http://schemas.openxmlformats.org/drawingml/2006/main" w="0">
            <a:noFill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6b32d43b54c4d"/>
          <a:stretch xmlns:a="http://schemas.openxmlformats.org/drawingml/2006/main"/>
        </p:blipFill>
        <p:spPr>
          <a:xfrm xmlns:a="http://schemas.openxmlformats.org/drawingml/2006/main">
            <a:off x="5429250" y="10191750"/>
            <a:ext cx="2857500" cy="2857500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217519bbb4f39"/>
          <a:stretch xmlns:a="http://schemas.openxmlformats.org/drawingml/2006/main"/>
        </p:blipFill>
        <p:spPr>
          <a:xfrm xmlns:a="http://schemas.openxmlformats.org/drawingml/2006/main">
            <a:off x="9810750" y="10191750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13" name="light label">
            <a:extLst xmlns:a="http://schemas.openxmlformats.org/drawingml/2006/main">
              <a:ext uri="{FF2B5EF4-FFF2-40B4-BE49-F238E27FC236}">
                <a16:creationId xmlns:a16="http://schemas.microsoft.com/office/drawing/2014/main" id="{C911C721-8DFF-4133-9B51-EB42DC74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63550"/>
            <a:ext cx="403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32536"/>
                </a:solidFill>
                <a:latin typeface="Helvetica Neue"/>
                <a:ea typeface="Helvetica Neue"/>
                <a:cs typeface="Helvetica Neue"/>
              </a:rPr>
              <a:t>Matte on light</a:t>
            </a:r>
          </a:p>
        </p:txBody>
      </p:sp>
      <p:sp>
        <p:nvSpPr>
          <p:cNvPr id="14" name="light use">
            <a:extLst xmlns:a="http://schemas.openxmlformats.org/drawingml/2006/main">
              <a:ext uri="{FF2B5EF4-FFF2-40B4-BE49-F238E27FC236}">
                <a16:creationId xmlns:a16="http://schemas.microsoft.com/office/drawing/2014/main" id="{789F0E73-0427-4AB4-98E4-4B9DFD06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rPr>
              <a:t>The material signature</a:t>
            </a:r>
          </a:p>
        </p:txBody>
      </p:sp>
      <p:sp>
        <p:nvSpPr>
          <p:cNvPr id="15" name="dark label">
            <a:extLst xmlns:a="http://schemas.openxmlformats.org/drawingml/2006/main">
              <a:ext uri="{FF2B5EF4-FFF2-40B4-BE49-F238E27FC236}">
                <a16:creationId xmlns:a16="http://schemas.microsoft.com/office/drawing/2014/main" id="{FB62F025-2F16-4CDC-B1EC-9F5BE77E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3163550"/>
            <a:ext cx="403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32536"/>
                </a:solidFill>
                <a:latin typeface="Helvetica Neue"/>
                <a:ea typeface="Helvetica Neue"/>
                <a:cs typeface="Helvetica Neue"/>
              </a:rPr>
              <a:t>Matte on dark</a:t>
            </a:r>
          </a:p>
        </p:txBody>
      </p:sp>
      <p:sp>
        <p:nvSpPr>
          <p:cNvPr id="16" name="dark use">
            <a:extLst xmlns:a="http://schemas.openxmlformats.org/drawingml/2006/main">
              <a:ext uri="{FF2B5EF4-FFF2-40B4-BE49-F238E27FC236}">
                <a16:creationId xmlns:a16="http://schemas.microsoft.com/office/drawing/2014/main" id="{7725ACF0-460F-4899-BD5C-4F689512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35255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rPr>
              <a:t>The same contour, inverted</a:t>
            </a:r>
          </a:p>
        </p:txBody>
      </p:sp>
      <p:sp>
        <p:nvSpPr>
          <p:cNvPr id="17" name="desktop label">
            <a:extLst xmlns:a="http://schemas.openxmlformats.org/drawingml/2006/main">
              <a:ext uri="{FF2B5EF4-FFF2-40B4-BE49-F238E27FC236}">
                <a16:creationId xmlns:a16="http://schemas.microsoft.com/office/drawing/2014/main" id="{8B00ED5C-9E30-4027-9ED2-4228A735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3163550"/>
            <a:ext cx="403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32536"/>
                </a:solidFill>
                <a:latin typeface="Helvetica Neue"/>
                <a:ea typeface="Helvetica Neue"/>
                <a:cs typeface="Helvetica Neue"/>
              </a:rPr>
              <a:t>Desktop icon</a:t>
            </a:r>
          </a:p>
        </p:txBody>
      </p:sp>
      <p:sp>
        <p:nvSpPr>
          <p:cNvPr id="18" name="desktop use">
            <a:extLst xmlns:a="http://schemas.openxmlformats.org/drawingml/2006/main">
              <a:ext uri="{FF2B5EF4-FFF2-40B4-BE49-F238E27FC236}">
                <a16:creationId xmlns:a16="http://schemas.microsoft.com/office/drawing/2014/main" id="{D480AE92-5B53-4647-8C71-FCFEDC5C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35255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rPr>
              <a:t>A quiet, compact app presence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0a64cbfef4922"/>
          <a:stretch xmlns:a="http://schemas.openxmlformats.org/drawingml/2006/main"/>
        </p:blipFill>
        <p:spPr>
          <a:xfrm xmlns:a="http://schemas.openxmlformats.org/drawingml/2006/main">
            <a:off x="457200" y="14192250"/>
            <a:ext cx="12801600" cy="2560320"/>
          </a:xfrm>
          <a:prstGeom xmlns:a="http://schemas.openxmlformats.org/drawingml/2006/main" prst="rect">
            <a:avLst/>
          </a:prstGeom>
        </p:spPr>
      </p:pic>
      <p:sp>
        <p:nvSpPr>
          <p:cNvPr id="20" name="github label">
            <a:extLst xmlns:a="http://schemas.openxmlformats.org/drawingml/2006/main">
              <a:ext uri="{FF2B5EF4-FFF2-40B4-BE49-F238E27FC236}">
                <a16:creationId xmlns:a16="http://schemas.microsoft.com/office/drawing/2014/main" id="{A5D522A0-330B-41E4-8F1F-E27DC73B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878300"/>
            <a:ext cx="1190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4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57482"/>
                </a:solidFill>
                <a:latin typeface="Helvetica Neue"/>
                <a:ea typeface="Helvetica Neue"/>
                <a:cs typeface="Helvetica Neue"/>
              </a:rPr>
              <a:t>GITHUB README BANNER</a:t>
            </a:r>
          </a:p>
        </p:txBody>
      </p:sp>
      <p:sp>
        <p:nvSpPr>
          <p:cNvPr id="21" name="header mockup">
            <a:extLst xmlns:a="http://schemas.openxmlformats.org/drawingml/2006/main">
              <a:ext uri="{FF2B5EF4-FFF2-40B4-BE49-F238E27FC236}">
                <a16:creationId xmlns:a16="http://schemas.microsoft.com/office/drawing/2014/main" id="{1901FEBE-C907-4244-A0C4-4D592505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64100"/>
            <a:ext cx="80200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85db192084076"/>
          <a:stretch xmlns:a="http://schemas.openxmlformats.org/drawingml/2006/main"/>
        </p:blipFill>
        <p:spPr>
          <a:xfrm xmlns:a="http://schemas.openxmlformats.org/drawingml/2006/main">
            <a:off x="787644" y="17773650"/>
            <a:ext cx="1987062" cy="571500"/>
          </a:xfrm>
          <a:prstGeom xmlns:a="http://schemas.openxmlformats.org/drawingml/2006/main" prst="rect">
            <a:avLst/>
          </a:prstGeom>
        </p:spPr>
      </p:pic>
      <p:sp>
        <p:nvSpPr>
          <p:cNvPr id="23" name="nav research">
            <a:extLst xmlns:a="http://schemas.openxmlformats.org/drawingml/2006/main">
              <a:ext uri="{FF2B5EF4-FFF2-40B4-BE49-F238E27FC236}">
                <a16:creationId xmlns:a16="http://schemas.microsoft.com/office/drawing/2014/main" id="{CA5EFA9C-D71D-4B11-8867-74EA37FD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7811750"/>
            <a:ext cx="152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536"/>
                </a:solidFill>
                <a:latin typeface="Helvetica Neue"/>
                <a:ea typeface="Helvetica Neue"/>
                <a:cs typeface="Helvetica Neue"/>
              </a:rPr>
              <a:t>Research</a:t>
            </a:r>
          </a:p>
        </p:txBody>
      </p:sp>
      <p:sp>
        <p:nvSpPr>
          <p:cNvPr id="24" name="nav knowledge">
            <a:extLst xmlns:a="http://schemas.openxmlformats.org/drawingml/2006/main">
              <a:ext uri="{FF2B5EF4-FFF2-40B4-BE49-F238E27FC236}">
                <a16:creationId xmlns:a16="http://schemas.microsoft.com/office/drawing/2014/main" id="{98E0440E-EE4E-407F-84DF-8FCCED04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7811750"/>
            <a:ext cx="152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rPr>
              <a:t>Knowledge</a:t>
            </a:r>
          </a:p>
        </p:txBody>
      </p:sp>
      <p:sp>
        <p:nvSpPr>
          <p:cNvPr id="25" name="nav editor">
            <a:extLst xmlns:a="http://schemas.openxmlformats.org/drawingml/2006/main">
              <a:ext uri="{FF2B5EF4-FFF2-40B4-BE49-F238E27FC236}">
                <a16:creationId xmlns:a16="http://schemas.microsoft.com/office/drawing/2014/main" id="{DAA65E0B-603A-429E-9299-F0D19643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811750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rPr>
              <a:t>Editor</a:t>
            </a:r>
          </a:p>
        </p:txBody>
      </p:sp>
      <p:sp>
        <p:nvSpPr>
          <p:cNvPr id="26" name="header label">
            <a:extLst xmlns:a="http://schemas.openxmlformats.org/drawingml/2006/main">
              <a:ext uri="{FF2B5EF4-FFF2-40B4-BE49-F238E27FC236}">
                <a16:creationId xmlns:a16="http://schemas.microsoft.com/office/drawing/2014/main" id="{E47B3148-D515-4106-A9B4-352C01DF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88050"/>
            <a:ext cx="802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4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57482"/>
                </a:solidFill>
                <a:latin typeface="Helvetica Neue"/>
                <a:ea typeface="Helvetica Neue"/>
                <a:cs typeface="Helvetica Neue"/>
              </a:rPr>
              <a:t>WEB APP HEADER</a:t>
            </a:r>
          </a:p>
        </p:txBody>
      </p:sp>
      <p:sp>
        <p:nvSpPr>
          <p:cNvPr id="27" name="header note">
            <a:extLst xmlns:a="http://schemas.openxmlformats.org/drawingml/2006/main">
              <a:ext uri="{FF2B5EF4-FFF2-40B4-BE49-F238E27FC236}">
                <a16:creationId xmlns:a16="http://schemas.microsoft.com/office/drawing/2014/main" id="{ECBD5391-F419-4413-8C71-AFB2572A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07150"/>
            <a:ext cx="8020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rPr>
              <a:t>Flat artwork preserves clarity at small sizes.</a:t>
            </a:r>
          </a:p>
        </p:txBody>
      </p:sp>
      <p:sp>
        <p:nvSpPr>
          <p:cNvPr id="28" name="palette label">
            <a:extLst xmlns:a="http://schemas.openxmlformats.org/drawingml/2006/main">
              <a:ext uri="{FF2B5EF4-FFF2-40B4-BE49-F238E27FC236}">
                <a16:creationId xmlns:a16="http://schemas.microsoft.com/office/drawing/2014/main" id="{00DBDB2E-FAD6-487A-8202-0DC2178E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5641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4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57482"/>
                </a:solidFill>
                <a:latin typeface="Helvetica Neue"/>
                <a:ea typeface="Helvetica Neue"/>
                <a:cs typeface="Helvetica Neue"/>
              </a:rPr>
              <a:t>COLOR WITH A PURPOSE</a:t>
            </a:r>
          </a:p>
        </p:txBody>
      </p:sp>
      <p:sp>
        <p:nvSpPr>
          <p:cNvPr id="29" name="swatch Ink">
            <a:extLst xmlns:a="http://schemas.openxmlformats.org/drawingml/2006/main">
              <a:ext uri="{FF2B5EF4-FFF2-40B4-BE49-F238E27FC236}">
                <a16:creationId xmlns:a16="http://schemas.microsoft.com/office/drawing/2014/main" id="{FA12F3EF-1ADB-4468-8692-286CFF38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0022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36"/>
          </a:solidFill>
          <a:ln xmlns:a="http://schemas.openxmlformats.org/drawingml/2006/main" w="0">
            <a:noFill/>
          </a:ln>
        </p:spPr>
      </p:sp>
      <p:sp>
        <p:nvSpPr>
          <p:cNvPr id="30" name="color Ink">
            <a:extLst xmlns:a="http://schemas.openxmlformats.org/drawingml/2006/main">
              <a:ext uri="{FF2B5EF4-FFF2-40B4-BE49-F238E27FC236}">
                <a16:creationId xmlns:a16="http://schemas.microsoft.com/office/drawing/2014/main" id="{095B6AC2-8DD3-4F11-A4F0-9D79D3F9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5832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536"/>
                </a:solidFill>
                <a:latin typeface="Helvetica Neue"/>
                <a:ea typeface="Helvetica Neue"/>
                <a:cs typeface="Helvetica Neue"/>
              </a:rPr>
              <a:t>Ink</a:t>
            </a:r>
          </a:p>
        </p:txBody>
      </p:sp>
      <p:sp>
        <p:nvSpPr>
          <p:cNvPr id="31" name="role Ink">
            <a:extLst xmlns:a="http://schemas.openxmlformats.org/drawingml/2006/main">
              <a:ext uri="{FF2B5EF4-FFF2-40B4-BE49-F238E27FC236}">
                <a16:creationId xmlns:a16="http://schemas.microsoft.com/office/drawing/2014/main" id="{8A589B9E-9D23-4B60-B9F8-33AE890F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9261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rPr>
              <a:t>Structure</a:t>
            </a:r>
          </a:p>
        </p:txBody>
      </p:sp>
      <p:sp>
        <p:nvSpPr>
          <p:cNvPr id="32" name="hex Ink">
            <a:extLst xmlns:a="http://schemas.openxmlformats.org/drawingml/2006/main">
              <a:ext uri="{FF2B5EF4-FFF2-40B4-BE49-F238E27FC236}">
                <a16:creationId xmlns:a16="http://schemas.microsoft.com/office/drawing/2014/main" id="{7CAC5B4E-711A-4146-ADCA-1514DDA3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2309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rPr>
              <a:t>#132536</a:t>
            </a:r>
          </a:p>
        </p:txBody>
      </p:sp>
      <p:sp>
        <p:nvSpPr>
          <p:cNvPr id="33" name="swatch Paper">
            <a:extLst xmlns:a="http://schemas.openxmlformats.org/drawingml/2006/main">
              <a:ext uri="{FF2B5EF4-FFF2-40B4-BE49-F238E27FC236}">
                <a16:creationId xmlns:a16="http://schemas.microsoft.com/office/drawing/2014/main" id="{D443C949-E94A-4ACE-9062-30D76100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80022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D5D2CC"/>
            </a:solidFill>
          </a:ln>
        </p:spPr>
      </p:sp>
      <p:sp>
        <p:nvSpPr>
          <p:cNvPr id="34" name="color Paper">
            <a:extLst xmlns:a="http://schemas.openxmlformats.org/drawingml/2006/main">
              <a:ext uri="{FF2B5EF4-FFF2-40B4-BE49-F238E27FC236}">
                <a16:creationId xmlns:a16="http://schemas.microsoft.com/office/drawing/2014/main" id="{3D485EA0-D63B-4308-B923-F6EB168B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85832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536"/>
                </a:solidFill>
                <a:latin typeface="Helvetica Neue"/>
                <a:ea typeface="Helvetica Neue"/>
                <a:cs typeface="Helvetica Neue"/>
              </a:rPr>
              <a:t>Paper</a:t>
            </a:r>
          </a:p>
        </p:txBody>
      </p:sp>
      <p:sp>
        <p:nvSpPr>
          <p:cNvPr id="35" name="role Paper">
            <a:extLst xmlns:a="http://schemas.openxmlformats.org/drawingml/2006/main">
              <a:ext uri="{FF2B5EF4-FFF2-40B4-BE49-F238E27FC236}">
                <a16:creationId xmlns:a16="http://schemas.microsoft.com/office/drawing/2014/main" id="{1CE1E4B6-ED90-49FF-994F-69694510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89261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rPr>
              <a:t>Sources</a:t>
            </a:r>
          </a:p>
        </p:txBody>
      </p:sp>
      <p:sp>
        <p:nvSpPr>
          <p:cNvPr id="36" name="hex Paper">
            <a:extLst xmlns:a="http://schemas.openxmlformats.org/drawingml/2006/main">
              <a:ext uri="{FF2B5EF4-FFF2-40B4-BE49-F238E27FC236}">
                <a16:creationId xmlns:a16="http://schemas.microsoft.com/office/drawing/2014/main" id="{228D7C13-EF51-458B-B360-E4D658DF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92309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rPr>
              <a:t>#F4F1EA</a:t>
            </a:r>
          </a:p>
        </p:txBody>
      </p:sp>
      <p:sp>
        <p:nvSpPr>
          <p:cNvPr id="37" name="swatch Petrol">
            <a:extLst xmlns:a="http://schemas.openxmlformats.org/drawingml/2006/main">
              <a:ext uri="{FF2B5EF4-FFF2-40B4-BE49-F238E27FC236}">
                <a16:creationId xmlns:a16="http://schemas.microsoft.com/office/drawing/2014/main" id="{8C7B07A3-B91C-4709-8EA0-5B3EABE8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180022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86D"/>
          </a:solidFill>
          <a:ln xmlns:a="http://schemas.openxmlformats.org/drawingml/2006/main" w="0">
            <a:noFill/>
          </a:ln>
        </p:spPr>
      </p:sp>
      <p:sp>
        <p:nvSpPr>
          <p:cNvPr id="38" name="color Petrol">
            <a:extLst xmlns:a="http://schemas.openxmlformats.org/drawingml/2006/main">
              <a:ext uri="{FF2B5EF4-FFF2-40B4-BE49-F238E27FC236}">
                <a16:creationId xmlns:a16="http://schemas.microsoft.com/office/drawing/2014/main" id="{FF0ACDC8-0323-4D64-A823-12962B49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185832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536"/>
                </a:solidFill>
                <a:latin typeface="Helvetica Neue"/>
                <a:ea typeface="Helvetica Neue"/>
                <a:cs typeface="Helvetica Neue"/>
              </a:rPr>
              <a:t>Petrol</a:t>
            </a:r>
          </a:p>
        </p:txBody>
      </p:sp>
      <p:sp>
        <p:nvSpPr>
          <p:cNvPr id="39" name="role Petrol">
            <a:extLst xmlns:a="http://schemas.openxmlformats.org/drawingml/2006/main">
              <a:ext uri="{FF2B5EF4-FFF2-40B4-BE49-F238E27FC236}">
                <a16:creationId xmlns:a16="http://schemas.microsoft.com/office/drawing/2014/main" id="{A56F9E25-A5CC-49C3-9604-E68E8604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189261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rPr>
              <a:t>Connection</a:t>
            </a:r>
          </a:p>
        </p:txBody>
      </p:sp>
      <p:sp>
        <p:nvSpPr>
          <p:cNvPr id="40" name="hex Petrol">
            <a:extLst xmlns:a="http://schemas.openxmlformats.org/drawingml/2006/main">
              <a:ext uri="{FF2B5EF4-FFF2-40B4-BE49-F238E27FC236}">
                <a16:creationId xmlns:a16="http://schemas.microsoft.com/office/drawing/2014/main" id="{D7FFD777-E5BE-442C-BB01-4D125EA7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192309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rPr>
              <a:t>#08686D</a:t>
            </a:r>
          </a:p>
        </p:txBody>
      </p:sp>
      <p:sp>
        <p:nvSpPr>
          <p:cNvPr id="41" name="footer line">
            <a:extLst xmlns:a="http://schemas.openxmlformats.org/drawingml/2006/main">
              <a:ext uri="{FF2B5EF4-FFF2-40B4-BE49-F238E27FC236}">
                <a16:creationId xmlns:a16="http://schemas.microsoft.com/office/drawing/2014/main" id="{3926267E-326B-4A70-B074-1EC07D1D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40575"/>
            <a:ext cx="1280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2CC"/>
          </a:solidFill>
          <a:ln xmlns:a="http://schemas.openxmlformats.org/drawingml/2006/main" w="0">
            <a:noFill/>
          </a:ln>
        </p:spPr>
      </p:sp>
      <p:sp>
        <p:nvSpPr>
          <p:cNvPr id="42" name="footer">
            <a:extLst xmlns:a="http://schemas.openxmlformats.org/drawingml/2006/main">
              <a:ext uri="{FF2B5EF4-FFF2-40B4-BE49-F238E27FC236}">
                <a16:creationId xmlns:a16="http://schemas.microsoft.com/office/drawing/2014/main" id="{7B5FBA31-5317-4F03-9BAF-FA0AD046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0"/>
            <a:ext cx="609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rPr>
              <a:t>Inqtrix visual identity</a:t>
            </a:r>
          </a:p>
        </p:txBody>
      </p:sp>
      <p:sp>
        <p:nvSpPr>
          <p:cNvPr id="43" name="descriptor">
            <a:extLst xmlns:a="http://schemas.openxmlformats.org/drawingml/2006/main">
              <a:ext uri="{FF2B5EF4-FFF2-40B4-BE49-F238E27FC236}">
                <a16:creationId xmlns:a16="http://schemas.microsoft.com/office/drawing/2014/main" id="{9CFED62E-B2D3-4CAF-91E0-D929043E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57482"/>
                </a:solidFill>
                <a:latin typeface="Helvetica Neue"/>
                <a:ea typeface="Helvetica Neue"/>
                <a:cs typeface="Helvetica Neue"/>
              </a:rPr>
              <a:t>Self-hosted AI research workspace</a:t>
            </a:r>
          </a:p>
        </p:txBody>
      </p:sp>
    </p:spTree>
    <p:extLst>
      <p:ext uri="{BB962C8B-B14F-4D97-AF65-F5344CB8AC3E}">
        <p14:creationId xmlns:p14="http://schemas.microsoft.com/office/powerpoint/2010/main" val="961754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2026-09-25T19:08:26.1980000Z</dcterms:created>
  <dcterms:modified xsi:type="dcterms:W3CDTF">2026-09-25T19:08:26.1980000Z</dcterms:modified>
</coreProperties>
</file>